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2986405" y="91440"/>
            <a:ext cx="6217920" cy="822960"/>
          </a:xfrm>
          <a:prstGeom prst="roundRect">
            <a:avLst/>
          </a:prstGeom>
          <a:solidFill>
            <a:srgbClr val="E6EFF9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F4E79"/>
                </a:solidFill>
                <a:latin typeface="微软雅黑" panose="020B0503020204020204" charset="-122"/>
              </a:rPr>
              <a:t>基于新数据划分 40/109/9/9 的 A3 切面</a:t>
            </a:r>
            <a:endParaRPr sz="24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3423285" cy="1755775"/>
          </a:xfrm>
          <a:prstGeom prst="rect">
            <a:avLst/>
          </a:prstGeom>
          <a:noFill/>
        </p:spPr>
        <p:txBody>
          <a:bodyPr wrap="square" lIns="101600" tIns="50800" rIns="50800" bIns="50800">
            <a:no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任务对象：仅针对 A3 切面进行外侧裂半监督分割。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当前 A3 数据总量：167，其中 labeled/unlabeled/val/test = 40/109/9/9。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数据组成：68 个已标注 A3，99 个纯未标注 A3。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新结果：best val Dice = 0.7024，test Dice = 0.5874。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dataset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4640" y="1054735"/>
            <a:ext cx="7994015" cy="5226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任务背景与约束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760720" cy="2963545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本次汇报的研究对象严格限定为 A3 切面，所有数据组织、实验分析和创新点均围绕 A3 展开。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A3 切面具有典型超声难点：斑点噪声强、边界低对比、局部回声不均、不同受试者解剖形态差异明显。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在标注有限的情况下，问题核心不是继续扩大模型规模，而是如何让半监督策略更稳健地利用大量未标注 A3 图像。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因此汇报重点为“A3 专项半监督、低置信区域控制、边界和形态强化”。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4846320" cy="109728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404040"/>
                </a:solidFill>
                <a:latin typeface="微软雅黑" panose="020B0503020204020204" charset="-122"/>
              </a:rPr>
              <a:t>结论性表述：当前是一个典型的 A3 小标注 + 大量未标注 A3 的半监督分割问题。</a:t>
            </a:r>
            <a:endParaRPr sz="2000" b="1">
              <a:solidFill>
                <a:srgbClr val="40404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4572000" cy="201168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关键优化方向 1：让伪标签更可靠。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关键优化方向 2：让未标注 A3 的利用更充分。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关键优化方向 3：让边界和形态更符合外侧裂解剖特征。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当前基线与训练配置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pic>
        <p:nvPicPr>
          <p:cNvPr id="3" name="Picture 2" descr="proposed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00"/>
            <a:ext cx="8385810" cy="4848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25130" y="914400"/>
            <a:ext cx="4166235" cy="4848225"/>
          </a:xfrm>
          <a:prstGeom prst="rect">
            <a:avLst/>
          </a:prstGeom>
          <a:noFill/>
        </p:spPr>
        <p:txBody>
          <a:bodyPr wrap="square" lIns="101600" tIns="50800" rIns="50800" bIns="50800">
            <a:no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基线模型：KnowSAM。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核心结构：UNet/VNet 双分支 + Learnable Prompt + SAM 蒸馏 + 不确定性引导 mixup。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训练迭代：3000，batch size：16，labeled_bs：8。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mixup 启动迭代：240，验证间隔：10。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训练与测试结果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pic>
        <p:nvPicPr>
          <p:cNvPr id="3" name="Picture 2" descr="baseline_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5852160" cy="2585314"/>
          </a:xfrm>
          <a:prstGeom prst="rect">
            <a:avLst/>
          </a:prstGeom>
        </p:spPr>
      </p:pic>
      <p:pic>
        <p:nvPicPr>
          <p:cNvPr id="4" name="Picture 3" descr="case_visu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15" y="294005"/>
            <a:ext cx="4754880" cy="6270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389120"/>
            <a:ext cx="6990715" cy="156337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最佳验证结果：iter 2100，SGDL val Dice = 0.7024，SAM val Dice = 0.6159。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测试集结果：Dice = 0.5874，IoU = 0.4286，HD95 = 3.6204。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测试集最优病例 Dice = 0.7593，最弱病例 Dice = 0.4223。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说明：模型已经具备较强可用性，但仍存在边界波动和个别病例欠稳的问题。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从日志看当前模型瓶颈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pic>
        <p:nvPicPr>
          <p:cNvPr id="3" name="Picture 2" descr="training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11130915" cy="3265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133850"/>
            <a:ext cx="11323320" cy="171704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优势：训练过程收敛稳定，最佳验证 Dice 已达到 0.70 以上，说明当前 A3 半监督框架有效。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现象 1：最终 3000 iter 时 SGDL val Dice 约为 0.6489，低于最佳点 0.7024，存在后期震荡与轻微回落。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现象 2：VNet 分支 val Dice 长期接近 0.0，双分支协同并不充分，当前收益主要来自 fusion/UNet 分支。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现象 3：测试集若干病例仍有明显过分割，说明低置信区域和困难边界仍是主要误差来源。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因此优化重点应放在：伪标签质量控制、未标注 A3 使用策略、形态边界约束，而不是再讲跨切面。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相关文献与 GitHub 链接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5486400" cy="530352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KnowSAM (TMI 2025)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机制：可学习提示 + SAM 蒸馏 + 双分支协同，是当前 A3 半监督分割基线。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GitHub：https://github.com/taozh2017/KnowSAM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PH-Net (CVPR 2024)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机制：困难补丁挖掘与对比学习，适合超声噪声强、边界模糊的 A3 图像。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GitHub：https://github.com/jjjsyyy/PH-Net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CPC-SAM (MICCAI 2024)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机制：交叉提示一致性，适合提升双分支在困难边界区域的互补监督。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GitHub：https://github.com/JuzhengMiao/CPC-SAM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914400"/>
            <a:ext cx="5486400" cy="530352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SemiSAM+ (MedIA 2025)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机制：基础模型时代的半监督重构，强调极少标注条件下的稳定泛化。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GitHub：https://github.com/YichiZhang98/SemiSAM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SAM-MedUS (JMI 2025)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机制：面向超声模态的基础模型与边界损失设计，可为 A3 任务提供超声先验。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GitHub：https://github.com/tf2bb/SAM-MedUS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E-BayesSAM (MICCAI 2025)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机制：贝叶斯不确定性估计与 Token 剪枝，适合控制超声低置信区域蒸馏。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00000"/>
                </a:solidFill>
                <a:latin typeface="微软雅黑" panose="020B0503020204020204" charset="-122"/>
              </a:rPr>
              <a:t>GitHub：https://github.com/mp31192/E-BayesSAM</a:t>
            </a:r>
            <a:endParaRPr sz="13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505050"/>
                </a:solidFill>
                <a:latin typeface="微软雅黑" panose="020B0503020204020204" charset="-122"/>
              </a:rPr>
              <a:t>这几篇里与当前 A3 任务最直接相关的是：KnowSAM、PH-Net、CPC-SAM、SemiSAM+、E-BayesSAM。</a:t>
            </a:r>
            <a:endParaRPr sz="12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505050"/>
                </a:solidFill>
                <a:latin typeface="微软雅黑" panose="020B0503020204020204" charset="-122"/>
              </a:rPr>
              <a:t>SAM-MedUS 更偏超声基础模型视角，可作为后续超声先验迁移的补充。</a:t>
            </a:r>
            <a:endParaRPr sz="120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创新点一：不确定性感知的动态蒸馏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5669280" cy="640080"/>
          </a:xfrm>
          <a:prstGeom prst="roundRect">
            <a:avLst/>
          </a:prstGeom>
          <a:solidFill>
            <a:srgbClr val="DDEBF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F4E79"/>
                </a:solidFill>
                <a:latin typeface="微软雅黑" panose="020B0503020204020204" charset="-122"/>
              </a:rPr>
              <a:t>名称：U-CKD（Uncertainty-Calibrated Knowledge Distillation）</a:t>
            </a:r>
            <a:endParaRPr sz="22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486400" cy="429768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动机：A3 图像边界模糊且局部回声不稳定，SAM 伪标签并非在所有像素都可靠。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做法：对蒸馏损失、伪标签监督和 mixup 区域引入不确定性权重，在高不确定区域降低教师信号强度。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学术性：把基础模型蒸馏从“硬灌输”升级为“带置信度的知识迁移”。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创新性：针对外侧裂边界窄、细、易漏的特点，增加 boundary-aware KD，只在可信边界带强化蒸馏。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预期收益：减少测试集中低分病例的过分割和欠分割，提高整体稳定性。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130175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文献启发：E-BayesSAM、KnowSAM。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工程落点：直接改 `trainer.py` 中 `UNet_kd_loss`、`VNet_kd_loss` 和 `mix_up()` 的权重逻辑。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4937760"/>
            <a:ext cx="502920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404040"/>
                </a:solidFill>
                <a:latin typeface="微软雅黑" panose="020B0503020204020204" charset="-122"/>
              </a:rPr>
              <a:t>建议损失：L = L_sup + λ1·w(u)·L_KD + λ2·L_cons + λ3·L_boundary</a:t>
            </a:r>
            <a:endParaRPr sz="1800" b="1">
              <a:solidFill>
                <a:srgbClr val="40404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创新点二：A3 质量感知伪标签迭代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5486400" cy="640080"/>
          </a:xfrm>
          <a:prstGeom prst="roundRect">
            <a:avLst/>
          </a:prstGeom>
          <a:solidFill>
            <a:srgbClr val="E2EFD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85723"/>
                </a:solidFill>
                <a:latin typeface="微软雅黑" panose="020B0503020204020204" charset="-122"/>
              </a:rPr>
              <a:t>名称：QAPL（Quality-Aware Pseudo-Labeling for A3）</a:t>
            </a:r>
            <a:endParaRPr sz="2200" b="1">
              <a:solidFill>
                <a:srgbClr val="385723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486400" cy="429768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动机：当前未标注 A3 已扩充到 109 个，这是本轮训练性能提升的关键资源，但其质量差异很大。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做法：对未标注 A3 先做伪标签质量评分，再分阶段引入训练，而不是一次性等权使用所有未标注样本。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学术性：把半监督学习从“样本数量驱动”转为“样本质量驱动”。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创新性：针对 A3 切面，设计包含置信度、边界清晰度、形态合理性三部分的伪标签评分规则。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预期收益：提升未标注 A3 的利用效率，减少错误伪标签对训练后期的扰动。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文献启发：SemiSAM+、PH-Net、CPC-SAM。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实现方式：把未标注 A3 分成高置信池和困难池，采用 curriculum learning 或 top-k replay。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这条创新最符合新数据划分 40/109/9/9 的特点，能突出“新数据组织带来的方法升级”。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创新点三：外侧裂形态先验与困难边界强化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868680"/>
            <a:ext cx="6035040" cy="640080"/>
          </a:xfrm>
          <a:prstGeom prst="roundRect">
            <a:avLst/>
          </a:prstGeom>
          <a:solidFill>
            <a:srgbClr val="FDE9D9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994C00"/>
                </a:solidFill>
                <a:latin typeface="微软雅黑" panose="020B0503020204020204" charset="-122"/>
              </a:rPr>
              <a:t>名称：SAP-BR（Shape-Aware Prior &amp; Boundary Refinement）</a:t>
            </a:r>
            <a:endParaRPr sz="2200" b="1">
              <a:solidFill>
                <a:srgbClr val="994C0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486400" cy="429768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动机：外侧裂属于细长、弧形、沟裂样解剖结构，普通 Dice/CE 容易学成厚块状区域。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做法：引入形态先验、边界损失和困难补丁挖掘，约束预测结果的连通性、细长率和边界位置。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学术性：把分割任务从单纯像素分类提升为“结构合理性建模”。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创新性：把外侧裂的细长几何特征写入损失和筛选策略，而不是泛化地使用通用器官损失。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预期收益：改善边界泄漏、局部塌陷和不合理粗化，提高临床解释性。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文献启发：PH-Net、CPC-SAM、SAM-MedUS。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推荐新增结构指标：连通域数、骨架一致性、形态合理率。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微软雅黑" panose="020B0503020204020204" charset="-122"/>
              </a:rPr>
              <a:t>这条创新更适合写成论文中的任务特异性贡献，与创新点二形成互补。</a:t>
            </a:r>
            <a:endParaRPr sz="17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实验设计与汇报主线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pic>
        <p:nvPicPr>
          <p:cNvPr id="3" name="Picture 2" descr="proposed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5760720" cy="3330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2240" y="914400"/>
            <a:ext cx="2194560" cy="219456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Baseline：当前 v100 训练版 KnowSAM。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Ablation-1：+ U-CKD。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Ablation-2：+ QAPL。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Ablation-3：+ SAP-BR。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微软雅黑" panose="020B0503020204020204" charset="-122"/>
              </a:rPr>
              <a:t>Full model：三项联合。</a:t>
            </a:r>
            <a:endParaRPr sz="1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0" y="914400"/>
            <a:ext cx="2377440" cy="2743200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评价指标：Dice、IoU、HD95。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补充指标：边界误差、连通域数、形态合理率。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可视化：原图/真值/预测/不确定性图/边界图。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微软雅黑" panose="020B0503020204020204" charset="-122"/>
              </a:rPr>
              <a:t>汇报时建议主线：新数据划分 -&gt; 新结果 -&gt; 现存瓶颈 -&gt; 三项 A3 专项优化。</a:t>
            </a:r>
            <a:endParaRPr sz="16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train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57600"/>
            <a:ext cx="4937760" cy="144843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阶段结论与下一步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2009775"/>
          </a:xfrm>
          <a:prstGeom prst="rect">
            <a:avLst/>
          </a:prstGeom>
          <a:noFill/>
        </p:spPr>
        <p:txBody>
          <a:bodyPr wrap="square" lIns="101600" tIns="50800" rIns="50800" bIns="5080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结论 1：在新的 40/109/9/9 A3 划分上，KnowSAM 已取得较好的验证和测试结果，说明大规模未标注 A3 确实有效。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000000"/>
                </a:solidFill>
                <a:latin typeface="微软雅黑" panose="020B0503020204020204" charset="-122"/>
              </a:rPr>
              <a:t>结论 2：当前主要问题不再是“能不能学到目标”，而是“困难边界和低置信区域能否更稳”。</a:t>
            </a: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endParaRPr sz="19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0" y="1188720"/>
            <a:ext cx="2286000" cy="201168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404040"/>
                </a:solidFill>
                <a:latin typeface="微软雅黑" panose="020B0503020204020204" charset="-122"/>
              </a:rPr>
              <a:t>当前关键指标
best val Dice = 0.7024
test Dice = 0.5874
test IoU = 0.4286</a:t>
            </a:r>
            <a:endParaRPr sz="2000" b="1">
              <a:solidFill>
                <a:srgbClr val="40404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0" y="1188720"/>
            <a:ext cx="2194560" cy="201168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>
                <a:solidFill>
                  <a:srgbClr val="404040"/>
                </a:solidFill>
                <a:latin typeface="微软雅黑" panose="020B0503020204020204" charset="-122"/>
              </a:rPr>
              <a:t>建议优先顺序
1. 先做 U-CKD
2. 再做 QAPL
3. 最后补 SAP-BR 与结构指标</a:t>
            </a:r>
            <a:endParaRPr sz="1700" b="0">
              <a:solidFill>
                <a:srgbClr val="40404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微软雅黑" panose="020B0503020204020204" charset="-122"/>
              </a:rPr>
              <a:t>参考文献与链接</a:t>
            </a:r>
            <a:endParaRPr sz="2600" b="1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KnowSAM | Paper: https://ieeexplore.ieee.org/document/10843257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GitHub: https://github.com/taozh2017/KnowSAM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PH-Net | Paper: https://openaccess.thecvf.com/content/CVPR2024/html/Jiang_PH-Net_Semi-Supervised_Breast_Lesion_Segmentation_via_Patch-wise_Hardness_CVPR_2024_paper.html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GitHub: https://github.com/jjjsyyy/PH-Net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CPC-SAM | Paper: https://arxiv.org/abs/2407.05416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GitHub: https://github.com/JuzhengMiao/CPC-SAM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SemiSAM+ | Paper: https://arxiv.org/abs/2502.20749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GitHub: https://github.com/YichiZhang98/SemiSAM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SAM-MedUS | Paper: https://pmc.ncbi.nlm.nih.gov/articles/PMC11865838/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GitHub: https://github.com/tf2bb/SAM-MedUS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E-BayesSAM | Paper: https://arxiv.org/abs/2508.17408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05050"/>
                </a:solidFill>
                <a:latin typeface="微软雅黑" panose="020B0503020204020204" charset="-122"/>
              </a:rPr>
              <a:t>GitHub: https://github.com/mp31192/E-BayesSAM</a:t>
            </a:r>
            <a:endParaRPr sz="1100" b="0">
              <a:solidFill>
                <a:srgbClr val="50505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4151</Words>
  <Application>WPS 演示</Application>
  <PresentationFormat>On-screen Show (4:3)</PresentationFormat>
  <Paragraphs>150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刘凡</cp:lastModifiedBy>
  <cp:revision>10</cp:revision>
  <dcterms:created xsi:type="dcterms:W3CDTF">2013-01-27T09:14:00Z</dcterms:created>
  <dcterms:modified xsi:type="dcterms:W3CDTF">2026-04-16T08:58:35Z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391AC85F256D438497DDCFC213144DD4_12</vt:lpwstr>
  </property>
  <property fmtid="{D5CDD505-2E9C-101B-9397-08002B2CF9AE}" pid="3" name="KSOProductBuildVer">
    <vt:lpwstr>2052-12.1.0.21915</vt:lpwstr>
  </property>
</Properties>
</file>